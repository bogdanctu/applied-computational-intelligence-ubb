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embeddedFontLst>
    <p:embeddedFont>
      <p:font typeface="Poppins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  <p:embeddedFont>
      <p:font typeface="Merriweather"/>
      <p:regular r:id="rId31"/>
      <p:bold r:id="rId32"/>
      <p:italic r:id="rId33"/>
      <p:boldItalic r:id="rId34"/>
    </p:embeddedFont>
    <p:embeddedFont>
      <p:font typeface="DM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A011158-B791-4916-BF71-369966810855}">
  <a:tblStyle styleId="{1A011158-B791-4916-BF71-36996681085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erriweather-regular.fntdata"/><Relationship Id="rId30" Type="http://schemas.openxmlformats.org/officeDocument/2006/relationships/font" Target="fonts/Lato-boldItalic.fntdata"/><Relationship Id="rId11" Type="http://schemas.openxmlformats.org/officeDocument/2006/relationships/slide" Target="slides/slide5.xml"/><Relationship Id="rId33" Type="http://schemas.openxmlformats.org/officeDocument/2006/relationships/font" Target="fonts/Merriweather-italic.fntdata"/><Relationship Id="rId10" Type="http://schemas.openxmlformats.org/officeDocument/2006/relationships/slide" Target="slides/slide4.xml"/><Relationship Id="rId32" Type="http://schemas.openxmlformats.org/officeDocument/2006/relationships/font" Target="fonts/Merriweather-bold.fntdata"/><Relationship Id="rId13" Type="http://schemas.openxmlformats.org/officeDocument/2006/relationships/slide" Target="slides/slide7.xml"/><Relationship Id="rId35" Type="http://schemas.openxmlformats.org/officeDocument/2006/relationships/font" Target="fonts/DMSans-regular.fntdata"/><Relationship Id="rId12" Type="http://schemas.openxmlformats.org/officeDocument/2006/relationships/slide" Target="slides/slide6.xml"/><Relationship Id="rId34" Type="http://schemas.openxmlformats.org/officeDocument/2006/relationships/font" Target="fonts/Merriweather-boldItalic.fntdata"/><Relationship Id="rId15" Type="http://schemas.openxmlformats.org/officeDocument/2006/relationships/slide" Target="slides/slide9.xml"/><Relationship Id="rId37" Type="http://schemas.openxmlformats.org/officeDocument/2006/relationships/font" Target="fonts/DMSans-italic.fntdata"/><Relationship Id="rId14" Type="http://schemas.openxmlformats.org/officeDocument/2006/relationships/slide" Target="slides/slide8.xml"/><Relationship Id="rId36" Type="http://schemas.openxmlformats.org/officeDocument/2006/relationships/font" Target="fonts/DMSans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DMSans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b5d27703e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db5d27703e_0_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b5d27703e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db5d27703e_0_1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b5d27703e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db5d27703e_0_1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db5d27703e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db5d27703e_0_1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db5d27703e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db5d27703e_0_1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4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8.png"/><Relationship Id="rId10" Type="http://schemas.openxmlformats.org/officeDocument/2006/relationships/image" Target="../media/image9.png"/><Relationship Id="rId9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22.png"/><Relationship Id="rId7" Type="http://schemas.openxmlformats.org/officeDocument/2006/relationships/image" Target="../media/image7.png"/><Relationship Id="rId8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4.png"/><Relationship Id="rId8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Relationship Id="rId4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1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9F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5251" y="2246844"/>
            <a:ext cx="11581500" cy="23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Applications of</a:t>
            </a:r>
            <a:br>
              <a:rPr b="1" lang="en-US" sz="48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-US" sz="48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Multiagent Systems</a:t>
            </a:r>
            <a:br>
              <a:rPr b="1" lang="en-US" sz="48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-US" sz="48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 </a:t>
            </a:r>
            <a:r>
              <a:rPr b="1" i="0" lang="en-US" sz="4800" u="none" cap="none" strike="noStrik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Game Theory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80950" y="5669981"/>
            <a:ext cx="1103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Todoran Ciprian Bogdan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80950" y="6103856"/>
            <a:ext cx="1103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Babeş-Bolyai University, 202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9F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81250"/>
            <a:ext cx="5324475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381250"/>
            <a:ext cx="5324475" cy="30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757951" y="3409950"/>
            <a:ext cx="497062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Strategic Modeling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76300" y="4057650"/>
            <a:ext cx="47339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Translating complex real-world decision-making into mathematical frameworks across economics and computer science.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463426" y="3409950"/>
            <a:ext cx="497062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Autonomous MAS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581775" y="4057650"/>
            <a:ext cx="47339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Exploring how autonomous agents use strategic reasoning to solve coordination and competition problems independently.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14662" y="27241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2987" y="2724150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81025" y="581025"/>
            <a:ext cx="4210526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Research Motivation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81025" y="1247775"/>
            <a:ext cx="4010025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9F2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5063" y="2381250"/>
            <a:ext cx="5324474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381250"/>
            <a:ext cx="5324474" cy="30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/>
          <p:nvPr/>
        </p:nvSpPr>
        <p:spPr>
          <a:xfrm>
            <a:off x="581025" y="1247775"/>
            <a:ext cx="5772300" cy="28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Defining the Core Disciplines</a:t>
            </a:r>
            <a:endParaRPr>
              <a:solidFill>
                <a:srgbClr val="003366"/>
              </a:solidFill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2379583" y="3452812"/>
            <a:ext cx="1670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D9488"/>
                </a:solidFill>
                <a:latin typeface="Merriweather"/>
                <a:ea typeface="Merriweather"/>
                <a:cs typeface="Merriweather"/>
                <a:sym typeface="Merriweather"/>
              </a:rPr>
              <a:t>Game Theory (GT)</a:t>
            </a:r>
            <a:endParaRPr>
              <a:solidFill>
                <a:srgbClr val="0D9488"/>
              </a:solidFill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866775" y="3862387"/>
            <a:ext cx="46959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mathematical rulebook of strategic interaction. It dictates how rational actors compete, cooperate</a:t>
            </a: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and reach stable equilibria.</a:t>
            </a:r>
            <a:b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Provides the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theoretical optimum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7737157" y="3452812"/>
            <a:ext cx="24804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D9488"/>
                </a:solidFill>
                <a:latin typeface="Merriweather"/>
                <a:ea typeface="Merriweather"/>
                <a:cs typeface="Merriweather"/>
                <a:sym typeface="Merriweather"/>
              </a:rPr>
              <a:t>Multiagent Systems (MAS)</a:t>
            </a:r>
            <a:endParaRPr>
              <a:solidFill>
                <a:srgbClr val="0D9488"/>
              </a:solidFill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6629400" y="3862387"/>
            <a:ext cx="46959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autonomous executors. Distributed computational entities capable of navigating complex environments.</a:t>
            </a:r>
            <a:b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Provides the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practical simulation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and validation.</a:t>
            </a:r>
            <a:endParaRPr/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57512" y="271938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91562" y="2719387"/>
            <a:ext cx="5715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9F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014537"/>
            <a:ext cx="53244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14537"/>
            <a:ext cx="53244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6286500" y="2414587"/>
            <a:ext cx="5324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Game Theory (GT)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is the study of mathematical models describing strategic interaction between rational decision-makers.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667500" y="3519487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Origin: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von Neumann and Morgenstern (1944).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667500" y="4014787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Evolution: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Expanded from simple zero-sum games to non-zero-sum cooperation.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667500" y="4814887"/>
            <a:ext cx="4943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Equilibrium: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Finding stable states where no player gains by changing strategy alone (Nash Equilibrium).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81025" y="581025"/>
            <a:ext cx="578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Game Theory Fundamentals</a:t>
            </a:r>
            <a:endParaRPr>
              <a:solidFill>
                <a:srgbClr val="003366"/>
              </a:solidFill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581025" y="1247775"/>
            <a:ext cx="550545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543600" y="5927850"/>
            <a:ext cx="111048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“</a:t>
            </a:r>
            <a:r>
              <a:rPr i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Game Theory” of ”Myerson, R.B.”</a:t>
            </a:r>
            <a:br>
              <a:rPr i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i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“Theory of Games and Economic Behavior” [19], Oskar Morgenstern and Jhon </a:t>
            </a:r>
            <a:r>
              <a:rPr i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von Neumann</a:t>
            </a:r>
            <a:endParaRPr i="1"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9F2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" name="Google Shape;134;p17"/>
          <p:cNvGraphicFramePr/>
          <p:nvPr/>
        </p:nvGraphicFramePr>
        <p:xfrm>
          <a:off x="581025" y="14262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{1A011158-B791-4916-BF71-369966810855}</a:tableStyleId>
              </a:tblPr>
              <a:tblGrid>
                <a:gridCol w="2569375"/>
                <a:gridCol w="5763375"/>
                <a:gridCol w="2697200"/>
              </a:tblGrid>
              <a:tr h="40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Game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Definition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Key Focus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0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Cooperative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Players form binding agreements/coalitions.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Collective Welfare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Non-Cooperative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Independent actions without contracts.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Nash Equilibrium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Symmetric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Identical roles and payoff structures.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Role Permutation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Zero-Sum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One player's gain is another's loss.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Strict Competition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5" name="Google Shape;135;p17"/>
          <p:cNvSpPr txBox="1"/>
          <p:nvPr/>
        </p:nvSpPr>
        <p:spPr>
          <a:xfrm>
            <a:off x="581025" y="581025"/>
            <a:ext cx="496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Game Theory Structures</a:t>
            </a:r>
            <a:endParaRPr>
              <a:solidFill>
                <a:srgbClr val="003366"/>
              </a:solidFill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581025" y="1247775"/>
            <a:ext cx="47244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7" name="Google Shape;1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575" y="3600462"/>
            <a:ext cx="2547937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41262" y="3600462"/>
            <a:ext cx="2547937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74950" y="3600462"/>
            <a:ext cx="2547937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08637" y="3600462"/>
            <a:ext cx="2547937" cy="31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1281481" y="4686312"/>
            <a:ext cx="1000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Alignment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802850" y="5095887"/>
            <a:ext cx="1957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Cooperative (binding agreements) vs. Non-Cooperative (Nash equilibria).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4125170" y="4686312"/>
            <a:ext cx="980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Symmetry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3636537" y="5095887"/>
            <a:ext cx="1957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Symmetric (identical roles) vs. Asymmetric (differing reward rules).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603813" y="4686312"/>
            <a:ext cx="1690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Value Distribution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470225" y="5095887"/>
            <a:ext cx="19575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Zero-Sum (fixed payoff) vs. Non-Zero-Sum (mutual gain/loss possible).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9937563" y="4686312"/>
            <a:ext cx="690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Timing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9303912" y="5095887"/>
            <a:ext cx="1957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Simultaneous (blind action) vs. Sequential (perfect information moves).</a:t>
            </a:r>
            <a:endParaRPr/>
          </a:p>
        </p:txBody>
      </p:sp>
      <p:pic>
        <p:nvPicPr>
          <p:cNvPr descr="image.png" id="149" name="Google Shape;14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95793" y="395288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86631" y="39528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91743" y="395288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54006" y="3952887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9F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228850"/>
            <a:ext cx="3486150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2925" y="2228850"/>
            <a:ext cx="3486150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4825" y="2228850"/>
            <a:ext cx="3486150" cy="3381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803910" y="3257550"/>
            <a:ext cx="30403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Shopbots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876300" y="3905250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Automated agents searching for the best quality products at the lowest cost for human buyers.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4575810" y="3257550"/>
            <a:ext cx="30403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Pricebots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4648200" y="3905250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Sellers' agents that adjust prices dynamically based on market demand while avoiding "price wars."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8347710" y="3257550"/>
            <a:ext cx="30403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Negotiation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8420100" y="3905250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Programs reaching agreements without human intervention using mathematical strategy rules.</a:t>
            </a:r>
            <a:endParaRPr/>
          </a:p>
        </p:txBody>
      </p:sp>
      <p:pic>
        <p:nvPicPr>
          <p:cNvPr descr="image.png" id="166" name="Google Shape;16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66925" y="257175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67400" y="25717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82150" y="2571750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581025" y="581025"/>
            <a:ext cx="540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E-Commerce Applications</a:t>
            </a:r>
            <a:endParaRPr>
              <a:solidFill>
                <a:srgbClr val="003366"/>
              </a:solidFill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581025" y="1247775"/>
            <a:ext cx="51435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1926600" y="6000750"/>
            <a:ext cx="8338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“Game Theory and Decision Theory in Multi-Agent Systems” by ”Parsons Simon and Wooldridge Michael”</a:t>
            </a:r>
            <a:endParaRPr i="1"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9F2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 txBox="1"/>
          <p:nvPr/>
        </p:nvSpPr>
        <p:spPr>
          <a:xfrm>
            <a:off x="581025" y="581025"/>
            <a:ext cx="496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Game Theory </a:t>
            </a:r>
            <a:r>
              <a:rPr b="1" lang="en-US" sz="30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- Games</a:t>
            </a:r>
            <a:endParaRPr>
              <a:solidFill>
                <a:srgbClr val="003366"/>
              </a:solidFill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581025" y="1247775"/>
            <a:ext cx="4724400" cy="28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738" y="1481325"/>
            <a:ext cx="10296525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9F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436638"/>
            <a:ext cx="11029950" cy="730448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580950" y="1643713"/>
            <a:ext cx="11030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Minimum Effort Game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also known as the </a:t>
            </a:r>
            <a:r>
              <a:rPr b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Weakest Link Game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is a coordination game used to study how groups work together.</a:t>
            </a:r>
            <a:b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 this model, the final success of a group is determined by the member who provides the lowest level of effort.</a:t>
            </a:r>
            <a:endParaRPr/>
          </a:p>
        </p:txBody>
      </p:sp>
      <p:pic>
        <p:nvPicPr>
          <p:cNvPr descr="image.png" id="185" name="Google Shape;18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907837" y="2576899"/>
            <a:ext cx="14007675" cy="4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771450" y="5368086"/>
            <a:ext cx="10649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581025" y="581025"/>
            <a:ext cx="576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Minimum Effort Game (MEG)</a:t>
            </a:r>
            <a:endParaRPr>
              <a:solidFill>
                <a:srgbClr val="003366"/>
              </a:solidFill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581025" y="1247775"/>
            <a:ext cx="54864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580875" y="6388625"/>
            <a:ext cx="11030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“</a:t>
            </a:r>
            <a:r>
              <a:rPr i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Efficient coordination in weakest-link games” by “Arno Riedl, Ingrid M.T. Rohde and Martin Strobel”</a:t>
            </a:r>
            <a:endParaRPr i="1"/>
          </a:p>
        </p:txBody>
      </p:sp>
      <p:sp>
        <p:nvSpPr>
          <p:cNvPr id="190" name="Google Shape;190;p20"/>
          <p:cNvSpPr txBox="1"/>
          <p:nvPr/>
        </p:nvSpPr>
        <p:spPr>
          <a:xfrm>
            <a:off x="771450" y="3387126"/>
            <a:ext cx="10649100" cy="30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“</a:t>
            </a:r>
            <a:r>
              <a:rPr b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π</a:t>
            </a:r>
            <a:r>
              <a:rPr b="1" baseline="-25000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i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” 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The payoff for player “i”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“</a:t>
            </a:r>
            <a:r>
              <a:rPr b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”: The benefit earned from the group's minimum effort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“</a:t>
            </a:r>
            <a:r>
              <a:rPr b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”: The cost of the player's own effort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“</a:t>
            </a:r>
            <a:r>
              <a:rPr b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r>
              <a:rPr b="1" baseline="-25000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”: The effort level chosen by player “i”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“</a:t>
            </a:r>
            <a:r>
              <a:rPr b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”: A constant value to ensure the reward is not a negative number</a:t>
            </a:r>
            <a:b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Constraint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a &gt; b &gt; 0 (Motivation to align with minimum)</a:t>
            </a:r>
            <a:b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Outcome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One weak performance affects everyone negatively. Since the benefit (“a”) is higher than the cost (“b”), players are motivated to work hard, but only as hard as the slowest player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9F2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 txBox="1"/>
          <p:nvPr/>
        </p:nvSpPr>
        <p:spPr>
          <a:xfrm>
            <a:off x="581025" y="6386800"/>
            <a:ext cx="1103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Coordination Failure: Agents converge to the lowest effort (Equilibrium) to avoid payoff losses.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581025" y="581025"/>
            <a:ext cx="474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MEG </a:t>
            </a:r>
            <a:r>
              <a:rPr b="1" lang="en-US" sz="30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Literature </a:t>
            </a: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Results</a:t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>
            <a:off x="581025" y="1247775"/>
            <a:ext cx="451485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1538" y="1596850"/>
            <a:ext cx="6368924" cy="3801599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925950" y="5504875"/>
            <a:ext cx="10340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“</a:t>
            </a:r>
            <a:r>
              <a:rPr i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Optimal Strategy in the Minimum Effort Game” by “Edward Cartwright”</a:t>
            </a:r>
            <a:endParaRPr i="1"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9F2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"/>
          <p:cNvSpPr txBox="1"/>
          <p:nvPr/>
        </p:nvSpPr>
        <p:spPr>
          <a:xfrm>
            <a:off x="581025" y="6428822"/>
            <a:ext cx="1103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Coordination Failure: Agents converge to the lowest effort (Equilibrium) to avoid payoff losses.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581025" y="581025"/>
            <a:ext cx="474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MEG Simulation Results</a:t>
            </a:r>
            <a:endParaRPr/>
          </a:p>
        </p:txBody>
      </p:sp>
      <p:sp>
        <p:nvSpPr>
          <p:cNvPr id="206" name="Google Shape;206;p22"/>
          <p:cNvSpPr/>
          <p:nvPr/>
        </p:nvSpPr>
        <p:spPr>
          <a:xfrm>
            <a:off x="581025" y="1247775"/>
            <a:ext cx="4515000" cy="28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000" y="1413475"/>
            <a:ext cx="5767074" cy="378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0087" y="1947950"/>
            <a:ext cx="5539074" cy="296210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 txBox="1"/>
          <p:nvPr/>
        </p:nvSpPr>
        <p:spPr>
          <a:xfrm>
            <a:off x="443000" y="5196726"/>
            <a:ext cx="115980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simulation results are consistent with the conclusions presented in the literature review, especially with the findings of Cartwright.</a:t>
            </a:r>
            <a:b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Both the theoretical analysis and the simulation show that players tend to converge toward low-effort equilibria instead of maintaining socially efficient high-effort coordination.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9F2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14537"/>
            <a:ext cx="53244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3"/>
          <p:cNvSpPr txBox="1"/>
          <p:nvPr/>
        </p:nvSpPr>
        <p:spPr>
          <a:xfrm>
            <a:off x="510975" y="1517550"/>
            <a:ext cx="6299400" cy="46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Introduced by William Vickrey in 1961</a:t>
            </a:r>
            <a:b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Type of sealed-bid auction: all bids are submitted secretly</a:t>
            </a:r>
            <a:b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Winner is the highest bidder, but pays the second-highest bid price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Game mechanism: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Lato"/>
              <a:buChar char="●"/>
            </a:pPr>
            <a:r>
              <a:rPr b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Each participant has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1" marL="9144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Lato"/>
              <a:buChar char="○"/>
            </a:pPr>
            <a:r>
              <a:rPr b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Bid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b</a:t>
            </a:r>
            <a:r>
              <a:rPr i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endParaRPr i="1"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1" marL="9144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Lato"/>
              <a:buChar char="○"/>
            </a:pPr>
            <a:r>
              <a:rPr b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True valuation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v</a:t>
            </a:r>
            <a:r>
              <a:rPr i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endParaRPr i="1"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Lato"/>
              <a:buChar char="●"/>
            </a:pPr>
            <a:r>
              <a:rPr b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Auction rule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b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highest bi wins, payment second-highest bid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Strategic Insight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Lato"/>
              <a:buChar char="●"/>
            </a:pPr>
            <a:r>
              <a:rPr b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Optimal strategy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bid your true value (bi=vi)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Bidding below true value reduces chance of winning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Bidding above true value risks overpaying, possible loss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mage.png" id="217" name="Google Shape;21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16575" y="2352403"/>
            <a:ext cx="4184275" cy="299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3"/>
          <p:cNvSpPr txBox="1"/>
          <p:nvPr/>
        </p:nvSpPr>
        <p:spPr>
          <a:xfrm>
            <a:off x="581025" y="581025"/>
            <a:ext cx="454056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Vickrey Auction Model</a:t>
            </a:r>
            <a:endParaRPr/>
          </a:p>
        </p:txBody>
      </p:sp>
      <p:sp>
        <p:nvSpPr>
          <p:cNvPr id="219" name="Google Shape;219;p23"/>
          <p:cNvSpPr/>
          <p:nvPr/>
        </p:nvSpPr>
        <p:spPr>
          <a:xfrm>
            <a:off x="581025" y="1247775"/>
            <a:ext cx="432435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9F2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4"/>
          <p:cNvSpPr txBox="1"/>
          <p:nvPr/>
        </p:nvSpPr>
        <p:spPr>
          <a:xfrm>
            <a:off x="581025" y="6386800"/>
            <a:ext cx="1103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optimal strategy is for each participant to bid their true value (b = v)</a:t>
            </a:r>
            <a:endParaRPr i="1"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5" name="Google Shape;225;p24"/>
          <p:cNvSpPr txBox="1"/>
          <p:nvPr/>
        </p:nvSpPr>
        <p:spPr>
          <a:xfrm>
            <a:off x="581025" y="581025"/>
            <a:ext cx="474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MEG </a:t>
            </a:r>
            <a:r>
              <a:rPr b="1" lang="en-US" sz="30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Literature </a:t>
            </a: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Results</a:t>
            </a:r>
            <a:endParaRPr/>
          </a:p>
        </p:txBody>
      </p:sp>
      <p:sp>
        <p:nvSpPr>
          <p:cNvPr id="226" name="Google Shape;226;p24"/>
          <p:cNvSpPr/>
          <p:nvPr/>
        </p:nvSpPr>
        <p:spPr>
          <a:xfrm>
            <a:off x="581025" y="1247775"/>
            <a:ext cx="4515000" cy="28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4"/>
          <p:cNvSpPr txBox="1"/>
          <p:nvPr/>
        </p:nvSpPr>
        <p:spPr>
          <a:xfrm>
            <a:off x="926025" y="5394479"/>
            <a:ext cx="103401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“A Theoretical and Experimental Analysis of Bidding Behavior in Vickrey-Auction Games”</a:t>
            </a:r>
            <a:br>
              <a:rPr i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i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by ”Werner G ̈uth, Rolf Schmittberger and Bernd Schwarze”</a:t>
            </a:r>
            <a:endParaRPr i="1"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8" name="Google Shape;2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0488" y="1435513"/>
            <a:ext cx="6791174" cy="398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9F2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/>
        </p:nvSpPr>
        <p:spPr>
          <a:xfrm>
            <a:off x="581025" y="581025"/>
            <a:ext cx="474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MEG </a:t>
            </a:r>
            <a:r>
              <a:rPr b="1" lang="en-US" sz="30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Simulation </a:t>
            </a: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Results</a:t>
            </a:r>
            <a:endParaRPr/>
          </a:p>
        </p:txBody>
      </p:sp>
      <p:sp>
        <p:nvSpPr>
          <p:cNvPr id="234" name="Google Shape;234;p25"/>
          <p:cNvSpPr/>
          <p:nvPr/>
        </p:nvSpPr>
        <p:spPr>
          <a:xfrm>
            <a:off x="581025" y="1247775"/>
            <a:ext cx="4515000" cy="28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027" y="1545837"/>
            <a:ext cx="7905046" cy="4533938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5"/>
          <p:cNvSpPr txBox="1"/>
          <p:nvPr/>
        </p:nvSpPr>
        <p:spPr>
          <a:xfrm>
            <a:off x="8486075" y="1757963"/>
            <a:ext cx="32970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Human experiments often show irrational bidding due to psychological factors and misunderstanding, whereas simulations produce rational, consistent results.</a:t>
            </a:r>
            <a:b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</a:br>
            <a:b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These controlled environments eliminate behavioral noise, making them more effective for testing and validating auction mechanisms.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9F2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6"/>
          <p:cNvSpPr txBox="1"/>
          <p:nvPr/>
        </p:nvSpPr>
        <p:spPr>
          <a:xfrm>
            <a:off x="581025" y="581025"/>
            <a:ext cx="474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Conclusions</a:t>
            </a:r>
            <a:endParaRPr/>
          </a:p>
        </p:txBody>
      </p:sp>
      <p:sp>
        <p:nvSpPr>
          <p:cNvPr id="242" name="Google Shape;242;p26"/>
          <p:cNvSpPr/>
          <p:nvPr/>
        </p:nvSpPr>
        <p:spPr>
          <a:xfrm>
            <a:off x="581025" y="1247775"/>
            <a:ext cx="4515000" cy="28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6"/>
          <p:cNvSpPr txBox="1"/>
          <p:nvPr/>
        </p:nvSpPr>
        <p:spPr>
          <a:xfrm>
            <a:off x="548550" y="2377800"/>
            <a:ext cx="110949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00"/>
              <a:buFont typeface="Lato"/>
              <a:buChar char="●"/>
            </a:pPr>
            <a:r>
              <a:rPr lang="en-US" sz="17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MAS and Game Theory are strongly complementary for modelling strategic multi-agent decision problems</a:t>
            </a:r>
            <a:endParaRPr sz="17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00"/>
              <a:buFont typeface="Lato"/>
              <a:buChar char="●"/>
            </a:pPr>
            <a:r>
              <a:rPr lang="en-US" sz="17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MAS enables simulation of autonomous interactions; GT provides formal strategic analysis tools</a:t>
            </a:r>
            <a:endParaRPr sz="17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00"/>
              <a:buFont typeface="Lato"/>
              <a:buChar char="●"/>
            </a:pPr>
            <a:r>
              <a:rPr lang="en-US" sz="17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Case studies validated theory: effort convergence (coordination failure) and truthful bidding (Vickrey Auction)</a:t>
            </a:r>
            <a:endParaRPr sz="17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00"/>
              <a:buFont typeface="Lato"/>
              <a:buChar char="●"/>
            </a:pPr>
            <a:r>
              <a:rPr lang="en-US" sz="17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Results confirm MAS as an effective experimental environment for testing game-theoretic predictions</a:t>
            </a:r>
            <a:endParaRPr sz="17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00"/>
              <a:buFont typeface="Lato"/>
              <a:buChar char="●"/>
            </a:pPr>
            <a:r>
              <a:rPr lang="en-US" sz="17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Applications: decentralized systems, automated markets and negotiation systems</a:t>
            </a:r>
            <a:endParaRPr sz="17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00"/>
              <a:buFont typeface="Lato"/>
              <a:buChar char="●"/>
            </a:pPr>
            <a:r>
              <a:rPr lang="en-US" sz="17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Future direction: scalable simulations with adaptive and learning-based agents</a:t>
            </a:r>
            <a:endParaRPr sz="17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9F2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7"/>
          <p:cNvSpPr txBox="1"/>
          <p:nvPr/>
        </p:nvSpPr>
        <p:spPr>
          <a:xfrm>
            <a:off x="305276" y="1691729"/>
            <a:ext cx="115814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50" name="Google Shape;250;p27"/>
          <p:cNvSpPr/>
          <p:nvPr/>
        </p:nvSpPr>
        <p:spPr>
          <a:xfrm>
            <a:off x="5619750" y="2834729"/>
            <a:ext cx="9525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7"/>
          <p:cNvSpPr txBox="1"/>
          <p:nvPr/>
        </p:nvSpPr>
        <p:spPr>
          <a:xfrm>
            <a:off x="2286000" y="3158579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MAS and GT are mutually reinforcing: MAS provides the framework for interaction, while GT offers the mathematical foundation for stability.</a:t>
            </a:r>
            <a:endParaRPr/>
          </a:p>
        </p:txBody>
      </p:sp>
      <p:sp>
        <p:nvSpPr>
          <p:cNvPr id="252" name="Google Shape;252;p27"/>
          <p:cNvSpPr txBox="1"/>
          <p:nvPr/>
        </p:nvSpPr>
        <p:spPr>
          <a:xfrm>
            <a:off x="581025" y="4366170"/>
            <a:ext cx="11029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ciprian.todoran@stud.ubbcluj.ro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Babeş-Bolyai University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9F2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8"/>
          <p:cNvSpPr/>
          <p:nvPr/>
        </p:nvSpPr>
        <p:spPr>
          <a:xfrm>
            <a:off x="581025" y="1416629"/>
            <a:ext cx="110301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8"/>
          <p:cNvSpPr/>
          <p:nvPr/>
        </p:nvSpPr>
        <p:spPr>
          <a:xfrm>
            <a:off x="581025" y="1407104"/>
            <a:ext cx="110301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8"/>
          <p:cNvSpPr/>
          <p:nvPr/>
        </p:nvSpPr>
        <p:spPr>
          <a:xfrm>
            <a:off x="581025" y="1407104"/>
            <a:ext cx="110301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8"/>
          <p:cNvSpPr/>
          <p:nvPr/>
        </p:nvSpPr>
        <p:spPr>
          <a:xfrm>
            <a:off x="581025" y="2191875"/>
            <a:ext cx="110301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8"/>
          <p:cNvSpPr/>
          <p:nvPr/>
        </p:nvSpPr>
        <p:spPr>
          <a:xfrm>
            <a:off x="581025" y="2191875"/>
            <a:ext cx="110301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8"/>
          <p:cNvSpPr/>
          <p:nvPr/>
        </p:nvSpPr>
        <p:spPr>
          <a:xfrm>
            <a:off x="581025" y="2976645"/>
            <a:ext cx="110301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8"/>
          <p:cNvSpPr/>
          <p:nvPr/>
        </p:nvSpPr>
        <p:spPr>
          <a:xfrm>
            <a:off x="581025" y="2976645"/>
            <a:ext cx="110301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4" name="Google Shape;26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56605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 txBox="1"/>
          <p:nvPr/>
        </p:nvSpPr>
        <p:spPr>
          <a:xfrm>
            <a:off x="1676400" y="1559504"/>
            <a:ext cx="99345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https://png.pngtree.com/thumb_back/fw800/background/20260326/pngtree-strategic-chess-network-on-dark-abstract-surface-image_21620372.webp</a:t>
            </a:r>
            <a:endParaRPr/>
          </a:p>
        </p:txBody>
      </p:sp>
      <p:sp>
        <p:nvSpPr>
          <p:cNvPr id="266" name="Google Shape;266;p28"/>
          <p:cNvSpPr txBox="1"/>
          <p:nvPr/>
        </p:nvSpPr>
        <p:spPr>
          <a:xfrm>
            <a:off x="1676400" y="1805219"/>
            <a:ext cx="993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pngtree.com</a:t>
            </a:r>
            <a:endParaRPr/>
          </a:p>
        </p:txBody>
      </p:sp>
      <p:pic>
        <p:nvPicPr>
          <p:cNvPr descr="image.png" id="267" name="Google Shape;26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5081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8"/>
          <p:cNvSpPr txBox="1"/>
          <p:nvPr/>
        </p:nvSpPr>
        <p:spPr>
          <a:xfrm>
            <a:off x="1676400" y="2344270"/>
            <a:ext cx="99345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https://grafe-auction.ghost.io/content/images/2024/06/Firefly-Digital-gavel-concept--Close-up-image-of-a-judge-s-gavel--but-instead-of-wood--it-s-made-of--copy.jpg</a:t>
            </a:r>
            <a:endParaRPr/>
          </a:p>
        </p:txBody>
      </p:sp>
      <p:sp>
        <p:nvSpPr>
          <p:cNvPr id="269" name="Google Shape;269;p28"/>
          <p:cNvSpPr txBox="1"/>
          <p:nvPr/>
        </p:nvSpPr>
        <p:spPr>
          <a:xfrm>
            <a:off x="1676400" y="2589985"/>
            <a:ext cx="993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www.grafeauction.com</a:t>
            </a:r>
            <a:endParaRPr/>
          </a:p>
        </p:txBody>
      </p:sp>
      <p:sp>
        <p:nvSpPr>
          <p:cNvPr id="270" name="Google Shape;270;p28"/>
          <p:cNvSpPr txBox="1"/>
          <p:nvPr/>
        </p:nvSpPr>
        <p:spPr>
          <a:xfrm>
            <a:off x="581025" y="581025"/>
            <a:ext cx="304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Sources</a:t>
            </a:r>
            <a:endParaRPr/>
          </a:p>
        </p:txBody>
      </p:sp>
      <p:sp>
        <p:nvSpPr>
          <p:cNvPr id="271" name="Google Shape;271;p28"/>
          <p:cNvSpPr/>
          <p:nvPr/>
        </p:nvSpPr>
        <p:spPr>
          <a:xfrm>
            <a:off x="581025" y="1247775"/>
            <a:ext cx="28956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8"/>
          <p:cNvSpPr txBox="1"/>
          <p:nvPr/>
        </p:nvSpPr>
        <p:spPr>
          <a:xfrm>
            <a:off x="6179925" y="3188125"/>
            <a:ext cx="5431200" cy="29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[11] Nash Jr, J.F., 1950. Equilibrium points in n-person games. Proceedings of the national academy of sciences 36, 48–49.</a:t>
            </a:r>
            <a:endParaRPr sz="775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[12] Owen, G., 2013. Game theory. Emerald Group Publishing.</a:t>
            </a:r>
            <a:endParaRPr sz="775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[13] Pendharkar, P.C., 2012. Game theoretical applications for multi-agent systems. Expert Systems with Applications</a:t>
            </a:r>
            <a:endParaRPr sz="775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[14] Riedl, A., Rohde, I.M., Strobel, M., 2016. Efficient coordination in weakest-link games. The Review of Economic Studies</a:t>
            </a:r>
            <a:endParaRPr sz="775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[15] Sandholm, T., 2000. Issues in computational vickrey auctions. International Journal of Electronic Commerce</a:t>
            </a:r>
            <a:endParaRPr sz="775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[16] Shapley, L.S., Shubik, M., 1971. Game Theory in Economics: Chapter 1, Introduction, The Use of Models. RAND Corporation, Santa Monica, CA.</a:t>
            </a:r>
            <a:endParaRPr sz="775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[17] Simon, P., Michael, W., 2002. Game theory and decision theory in multi-agent systems. Autonomous Agents and Multi-Agent Systems 5,</a:t>
            </a:r>
            <a:endParaRPr sz="775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[18] Vickrey, W., 1961. Counterspeculation, auctions, and competitive sealed tenders. The Journal of finance 16, 8–37.</a:t>
            </a:r>
            <a:endParaRPr sz="775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[19] Von Neumann, J., Morgenstern, O., 2007. Theory of games and economic behavior: 60th anniversary commemorative edition, in: Theory of</a:t>
            </a:r>
            <a:endParaRPr sz="775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games and economic behavior. Princeton university press.</a:t>
            </a:r>
            <a:endParaRPr sz="775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[20] Weiss, G., 1999. Multiagent systems: a modern approach to distributed artificial intelligence. MIT press.</a:t>
            </a:r>
            <a:endParaRPr sz="775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[21] Wooldridge, M., 2009. An introduction to multiagent systems. John wiley &amp; sons.</a:t>
            </a:r>
            <a:endParaRPr sz="775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3" name="Google Shape;273;p28"/>
          <p:cNvSpPr txBox="1"/>
          <p:nvPr/>
        </p:nvSpPr>
        <p:spPr>
          <a:xfrm>
            <a:off x="581025" y="3188125"/>
            <a:ext cx="5598900" cy="3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[1] Cartwright, E., 2018. The optimal strategy in the minimum effort game. Games 9, 42.</a:t>
            </a:r>
            <a:endParaRPr sz="75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[2] Chandrasekaran, R., 2016. Cooperative game theory. PDF). University of Texas at Dallas .</a:t>
            </a:r>
            <a:endParaRPr sz="75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[3] Chang, K.H., 2014. Design theory and methods using CAD.</a:t>
            </a:r>
            <a:endParaRPr sz="75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[4] Cooper, R., 1999. Coordination games. cambridge university Press.</a:t>
            </a:r>
            <a:endParaRPr sz="75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[5] Costa-Gomes, M.A., Crawford, V.P., Iriberri, N., 2009. Comparing models of strategic thinking in van huyck, battalio, and beil’s coordination games. Journal of the European Economic Association 7, 365–376. URL: https://doi.org/10.1162/JEEA.2009.7.2-3.365</a:t>
            </a:r>
            <a:endParaRPr sz="75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[6] Fujiwara-Greve, T., 2015. Non-cooperative game theory. Springer.</a:t>
            </a:r>
            <a:endParaRPr sz="75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[7] G ̈uth, W., Schmittberger, R., Schwarze, B. A theoretical and experimental analysis of bidding behavior in vickrey-auction games.</a:t>
            </a:r>
            <a:endParaRPr sz="75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Zeitschrift f ̈ur die gesamte Staatswissenschaft / Journal of Institutional and Theoretical Economics</a:t>
            </a:r>
            <a:endParaRPr sz="75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[8] Hefti, A., 2017. Equilibria in symmetric games: Theory and applications. Theoretical Economics</a:t>
            </a:r>
            <a:endParaRPr sz="75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URL: https://onlinelibrary.wiley.com/doi/abs/10.3982/TE2151, doi:https://doi.org/10.3982/TE2151,arXiv:https://onlinelibrary.wiley.com/doi/pdf/10.3982/TE2151.</a:t>
            </a:r>
            <a:endParaRPr sz="75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[9] Huyck, J.B.V., Battalio, R.C., Beil, R.O., 1990. Tacit coordination games, strategic uncertainty, and coordination failure. The American</a:t>
            </a:r>
            <a:endParaRPr sz="75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Economic Review 80, 234–248. URL: http://www.jstor.org/stable/2006745.</a:t>
            </a:r>
            <a:endParaRPr sz="75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[10] Myerson, R.B., 2013. Game theory. Harvard university press.</a:t>
            </a:r>
            <a:endParaRPr sz="75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