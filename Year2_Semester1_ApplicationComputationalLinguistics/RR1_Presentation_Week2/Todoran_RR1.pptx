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Inter"/>
      <p:italic r:id="rId9"/>
    </p:embeddedFont>
    <p:embeddedFont>
      <p:font typeface="JetBrains Mono"/>
      <p:bold r:id="rId10"/>
    </p:embeddedFont>
    <p:embeddedFont>
      <p:font typeface="Space Grotesk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4838" y="3138119"/>
            <a:ext cx="10972800" cy="1932211"/>
          </a:xfrm>
          <a:prstGeom prst="roundRect">
            <a:avLst>
              <a:gd name="adj" fmla="val 1142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867400"/>
            <a:ext cx="109728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86476" y="3513829"/>
            <a:ext cx="9525" cy="4572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6067425"/>
            <a:ext cx="278146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CBD5E1"/>
                </a:solidFill>
                <a:latin typeface="Inter"/>
              </a:rPr>
              <a:t>Presenter: </a:t>
            </a:r>
            <a:r>
              <a:rPr lang="en-US" b="0" i="0" u="none" dirty="0">
                <a:solidFill>
                  <a:srgbClr val="CBD5E1"/>
                </a:solidFill>
                <a:latin typeface="Inter"/>
              </a:rPr>
              <a:t>Todoran C. Bogdan</a:t>
            </a:r>
            <a:endParaRPr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3256" y="88392"/>
            <a:ext cx="281109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8BDF8"/>
                </a:solidFill>
                <a:latin typeface="Space Grotesk"/>
              </a:rPr>
              <a:t>ACL COURSE • RR1 PRELIMINARY RESEARC</a:t>
            </a:r>
            <a:r>
              <a:rPr lang="en-US" sz="1200" b="1" i="0" u="none" dirty="0">
                <a:solidFill>
                  <a:srgbClr val="38BDF8"/>
                </a:solidFill>
                <a:latin typeface="Space Grotesk"/>
              </a:rPr>
              <a:t>H</a:t>
            </a:r>
            <a:endParaRPr sz="12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8177" y="1210590"/>
            <a:ext cx="10876598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4000" b="1" i="0" u="none" dirty="0">
                <a:solidFill>
                  <a:srgbClr val="F8FAFC"/>
                </a:solidFill>
                <a:latin typeface="Space Grotesk"/>
              </a:rPr>
              <a:t>Ontology Matching</a:t>
            </a:r>
            <a:r>
              <a:rPr lang="en-US" sz="4000" b="1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4000" b="1" i="0" u="none" dirty="0">
                <a:solidFill>
                  <a:srgbClr val="F8FAFC"/>
                </a:solidFill>
                <a:latin typeface="Space Grotesk"/>
              </a:rPr>
              <a:t>with Large Language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4270" y="1843332"/>
            <a:ext cx="862441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94A3B8"/>
                </a:solidFill>
                <a:latin typeface="Inter"/>
              </a:rPr>
              <a:t>A Comparative Analysis of </a:t>
            </a:r>
            <a:r>
              <a:rPr lang="en-US" sz="2000" b="0" i="0" u="none" dirty="0">
                <a:solidFill>
                  <a:srgbClr val="94A3B8"/>
                </a:solidFill>
                <a:latin typeface="Inter"/>
              </a:rPr>
              <a:t>"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KROMA</a:t>
            </a:r>
            <a:r>
              <a:rPr lang="en-US" sz="2000" b="0" i="0" u="none" dirty="0">
                <a:solidFill>
                  <a:srgbClr val="94A3B8"/>
                </a:solidFill>
                <a:latin typeface="Inter"/>
              </a:rPr>
              <a:t>"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and </a:t>
            </a:r>
            <a:r>
              <a:rPr lang="en-US" sz="2000" b="0" i="0" u="none" dirty="0">
                <a:solidFill>
                  <a:srgbClr val="94A3B8"/>
                </a:solidFill>
                <a:latin typeface="Inter"/>
              </a:rPr>
              <a:t>"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Agent-</a:t>
            </a:r>
            <a:r>
              <a:rPr lang="en-GB" sz="2000" b="0" i="0" u="none" dirty="0">
                <a:solidFill>
                  <a:srgbClr val="94A3B8"/>
                </a:solidFill>
                <a:latin typeface="Inter"/>
              </a:rPr>
              <a:t>Ontology Matching 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Architectures</a:t>
            </a:r>
            <a:r>
              <a:rPr lang="en-US" sz="2000" b="0" i="0" u="none" dirty="0">
                <a:solidFill>
                  <a:srgbClr val="94A3B8"/>
                </a:solidFill>
                <a:latin typeface="Inter"/>
              </a:rPr>
              <a:t>"</a:t>
            </a:r>
            <a:endParaRPr sz="20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9164" y="3390004"/>
            <a:ext cx="152516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Space Grotesk"/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163" y="3930495"/>
            <a:ext cx="4957762" cy="933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1" i="0" u="none" dirty="0">
                <a:solidFill>
                  <a:srgbClr val="E2E8F0"/>
                </a:solidFill>
                <a:latin typeface="Inter"/>
              </a:rPr>
              <a:t>Traditional OM:</a:t>
            </a:r>
            <a:r>
              <a:rPr sz="2000" b="0" i="0" u="none" dirty="0">
                <a:solidFill>
                  <a:srgbClr val="E2E8F0"/>
                </a:solidFill>
                <a:latin typeface="Inter"/>
              </a:rPr>
              <a:t> Relies on fixed rules and manual features. </a:t>
            </a:r>
            <a:r>
              <a:rPr sz="2000" dirty="0"/>
              <a:t>
</a:t>
            </a:r>
            <a:r>
              <a:rPr sz="2000" b="1" i="0" u="none" dirty="0">
                <a:solidFill>
                  <a:srgbClr val="E2E8F0"/>
                </a:solidFill>
                <a:latin typeface="Inter"/>
              </a:rPr>
              <a:t>Direct Prompting:</a:t>
            </a:r>
            <a:r>
              <a:rPr sz="2000" b="0" i="0" u="none" dirty="0">
                <a:solidFill>
                  <a:srgbClr val="E2E8F0"/>
                </a:solidFill>
                <a:latin typeface="Inter"/>
              </a:rPr>
              <a:t> High token costs, hallucinations, scale limits.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1" y="3390004"/>
            <a:ext cx="229832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Space Grotesk"/>
              </a:rPr>
              <a:t>RESEARCH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1087" y="4026532"/>
            <a:ext cx="4957762" cy="70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E2E8F0"/>
                </a:solidFill>
                <a:latin typeface="Inter"/>
              </a:rPr>
              <a:t>Investigate how </a:t>
            </a:r>
            <a:r>
              <a:rPr sz="2000" b="1" i="0" u="none" dirty="0">
                <a:solidFill>
                  <a:srgbClr val="E2E8F0"/>
                </a:solidFill>
                <a:latin typeface="Inter"/>
              </a:rPr>
              <a:t>external retrieval</a:t>
            </a:r>
            <a:r>
              <a:rPr sz="2000" b="0" i="0" u="none" dirty="0">
                <a:solidFill>
                  <a:srgbClr val="E2E8F0"/>
                </a:solidFill>
                <a:latin typeface="Inter"/>
              </a:rPr>
              <a:t>, </a:t>
            </a:r>
            <a:r>
              <a:rPr sz="2000" b="1" i="0" u="none" dirty="0">
                <a:solidFill>
                  <a:srgbClr val="E2E8F0"/>
                </a:solidFill>
                <a:latin typeface="Inter"/>
              </a:rPr>
              <a:t>semantic context</a:t>
            </a:r>
            <a:r>
              <a:rPr sz="2000" b="0" i="0" u="none" dirty="0">
                <a:solidFill>
                  <a:srgbClr val="E2E8F0"/>
                </a:solidFill>
                <a:latin typeface="Inter"/>
              </a:rPr>
              <a:t> and </a:t>
            </a:r>
            <a:r>
              <a:rPr sz="2000" b="1" i="0" u="none" dirty="0">
                <a:solidFill>
                  <a:srgbClr val="E2E8F0"/>
                </a:solidFill>
                <a:latin typeface="Inter"/>
              </a:rPr>
              <a:t>structural validation</a:t>
            </a:r>
            <a:r>
              <a:rPr sz="2000" b="0" i="0" u="none" dirty="0">
                <a:solidFill>
                  <a:srgbClr val="E2E8F0"/>
                </a:solidFill>
                <a:latin typeface="Inter"/>
              </a:rPr>
              <a:t> refine LLM-based entity matching.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15000"/>
            <a:ext cx="10972800" cy="685800"/>
          </a:xfrm>
          <a:prstGeom prst="roundRect">
            <a:avLst>
              <a:gd name="adj" fmla="val 13888"/>
            </a:avLst>
          </a:prstGeom>
          <a:solidFill>
            <a:srgbClr val="FFFBE0"/>
          </a:solidFill>
          <a:ln w="9525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200275"/>
            <a:ext cx="2600325" cy="335280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0425" y="2200275"/>
            <a:ext cx="2600325" cy="335280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2200275"/>
            <a:ext cx="2600325" cy="335280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82075" y="2200275"/>
            <a:ext cx="2600325" cy="335280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5122920"/>
            <a:ext cx="2124075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38550" y="5122920"/>
            <a:ext cx="2124075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29375" y="5122920"/>
            <a:ext cx="2124075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220200" y="5122920"/>
            <a:ext cx="2124075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5962650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438400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550" y="2438400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438400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200" y="2438400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543175"/>
            <a:ext cx="15240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800" y="2543175"/>
            <a:ext cx="1905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543175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5450" y="2543175"/>
            <a:ext cx="19050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43000" y="5876925"/>
            <a:ext cx="102965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854D0E"/>
                </a:solidFill>
                <a:latin typeface="Inter"/>
              </a:rPr>
              <a:t>Core Architecture Principle:</a:t>
            </a:r>
            <a:r>
              <a:rPr sz="1125" b="0" i="0" u="none">
                <a:solidFill>
                  <a:srgbClr val="854D0E"/>
                </a:solidFill>
                <a:latin typeface="Inter"/>
              </a:rPr>
              <a:t> Embeddings isolate candidate search space; structural post-processing guarantees graph logic consistency without increasing LLM prompt overhead.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25220"/>
            <a:ext cx="109728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000" b="1" i="0" u="none" dirty="0">
                <a:solidFill>
                  <a:srgbClr val="0284C7"/>
                </a:solidFill>
                <a:latin typeface="Space Grotesk"/>
              </a:rPr>
              <a:t>KROMA: Ontology Matching with Knowledge</a:t>
            </a:r>
          </a:p>
          <a:p>
            <a:pPr algn="ctr"/>
            <a:r>
              <a:rPr lang="en-US" sz="4000" b="1" i="0" u="none" dirty="0">
                <a:solidFill>
                  <a:srgbClr val="0284C7"/>
                </a:solidFill>
                <a:latin typeface="Space Grotesk"/>
              </a:rPr>
              <a:t>Retrieval and Large Language Models</a:t>
            </a:r>
            <a:endParaRPr sz="4000" b="1" i="0" u="none" dirty="0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2975" y="5180070"/>
            <a:ext cx="20288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0284C7"/>
                </a:solidFill>
                <a:latin typeface="JetBrains Mono"/>
              </a:rPr>
              <a:t>Context Enrichment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3800" y="5180070"/>
            <a:ext cx="20288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0284C7"/>
                </a:solidFill>
                <a:latin typeface="JetBrains Mono"/>
              </a:rPr>
              <a:t>Text + Graph Embeddings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5" y="5180070"/>
            <a:ext cx="20288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0284C7"/>
                </a:solidFill>
                <a:latin typeface="JetBrains Mono"/>
              </a:rPr>
              <a:t>Semantic 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5450" y="5180070"/>
            <a:ext cx="20288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0284C7"/>
                </a:solidFill>
                <a:latin typeface="JetBrains Mono"/>
              </a:rPr>
              <a:t>Hierarchy 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2933700"/>
            <a:ext cx="221932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Space Grotesk"/>
              </a:rPr>
              <a:t>1. Knowledge 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162" y="3541006"/>
            <a:ext cx="2219325" cy="12407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475569"/>
                </a:solidFill>
                <a:latin typeface="Inter"/>
              </a:rPr>
              <a:t>Fetches definitions, synonyms</a:t>
            </a:r>
            <a:r>
              <a:rPr lang="en-US" dirty="0">
                <a:solidFill>
                  <a:srgbClr val="475569"/>
                </a:solidFill>
                <a:latin typeface="Inter"/>
              </a:rPr>
              <a:t> 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and domain contexts from external knowledge bases to enrich concept descriptions.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8550" y="2933700"/>
            <a:ext cx="221932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Space Grotesk"/>
              </a:rPr>
              <a:t>2. Candidate Selection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8549" y="3541006"/>
            <a:ext cx="2219325" cy="830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475569"/>
                </a:solidFill>
                <a:latin typeface="Inter"/>
              </a:rPr>
              <a:t>Fuses text embeddings with graph embeddings to prune non-matching pairs efficiently.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2933700"/>
            <a:ext cx="221932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Space Grotesk"/>
              </a:rPr>
              <a:t>3. LLM 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9375" y="3539446"/>
            <a:ext cx="2219325" cy="830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475569"/>
                </a:solidFill>
                <a:latin typeface="Inter"/>
              </a:rPr>
              <a:t>Evaluates candidate pairs through deep contextual reasoning using LLMs.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0200" y="2933700"/>
            <a:ext cx="221932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u="none" dirty="0">
                <a:solidFill>
                  <a:srgbClr val="0F172A"/>
                </a:solidFill>
                <a:latin typeface="Space Grotesk"/>
              </a:rPr>
              <a:t>4. Structural</a:t>
            </a:r>
            <a:r>
              <a:rPr lang="en-US" sz="170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1700" b="1" i="0" u="none" dirty="0">
                <a:solidFill>
                  <a:srgbClr val="0F172A"/>
                </a:solidFill>
                <a:latin typeface="Space Grotesk"/>
              </a:rPr>
              <a:t>Refinement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0200" y="3535094"/>
            <a:ext cx="2219325" cy="1035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475569"/>
                </a:solidFill>
                <a:latin typeface="Inter"/>
              </a:rPr>
              <a:t>Validates predicted matches using parent-child hierarchical checks and </a:t>
            </a:r>
            <a:r>
              <a:rPr b="0" i="0" u="none" dirty="0" err="1">
                <a:solidFill>
                  <a:srgbClr val="475569"/>
                </a:solidFill>
                <a:latin typeface="Inter"/>
              </a:rPr>
              <a:t>bisimilarity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properties.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75607"/>
            <a:ext cx="4690169" cy="2192535"/>
          </a:xfrm>
          <a:prstGeom prst="roundRect">
            <a:avLst>
              <a:gd name="adj" fmla="val 695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04569" y="2076450"/>
            <a:ext cx="5977830" cy="895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04569" y="3124200"/>
            <a:ext cx="5977830" cy="895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04569" y="4171950"/>
            <a:ext cx="5977830" cy="8953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04569" y="2076450"/>
            <a:ext cx="38100" cy="895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4569" y="3124200"/>
            <a:ext cx="38100" cy="895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04569" y="4171950"/>
            <a:ext cx="38100" cy="8953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PAPER ANALYSIS • 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KROMA: Empirical Performance &amp;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38875"/>
            <a:ext cx="4262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Source: Nguyen et al. (2025) experimental evaluations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25075" y="6238875"/>
            <a:ext cx="18216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OAEI Benchmark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60" y="2828032"/>
            <a:ext cx="498164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284C7"/>
                </a:solidFill>
                <a:latin typeface="Space Grotesk"/>
              </a:rPr>
              <a:t>+10.95%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0" y="3666232"/>
            <a:ext cx="49816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Average Performance 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0" y="3942457"/>
            <a:ext cx="4981649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Outperforms existing state-of-the-art LLM-based matching frameworks on standard OAEI benchmarks.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169" y="2228850"/>
            <a:ext cx="635883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Dual-Ablation Synergies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169" y="2457450"/>
            <a:ext cx="565398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Both external retrieval and structural checking independently provide critical precision jumps.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3169" y="3276600"/>
            <a:ext cx="635883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Reasoning Trade-offs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169" y="3505200"/>
            <a:ext cx="565398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Multi-agent debate and extended chain-of-thought do </a:t>
            </a:r>
            <a:r>
              <a:rPr sz="1125" b="0" i="1" u="none">
                <a:solidFill>
                  <a:srgbClr val="475569"/>
                </a:solidFill>
                <a:latin typeface="Inter"/>
              </a:rPr>
              <a:t>not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increase accuracy proportionally; they significantly inflate compute costs.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169" y="4324350"/>
            <a:ext cx="635883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Inter"/>
              </a:rPr>
              <a:t>Key Limitation: Specialized Domains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169" y="4552950"/>
            <a:ext cx="565398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Inter"/>
              </a:rPr>
              <a:t>Performance degrades in niche domains (e.g., materials science) where external web-scale knowledge bases lack definitions.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53125"/>
            <a:ext cx="10972800" cy="447675"/>
          </a:xfrm>
          <a:prstGeom prst="roundRect">
            <a:avLst>
              <a:gd name="adj" fmla="val 21276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48850" y="614362"/>
            <a:ext cx="1733550" cy="295275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938337"/>
            <a:ext cx="3722935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61135" y="2571750"/>
            <a:ext cx="3069728" cy="1876425"/>
          </a:xfrm>
          <a:prstGeom prst="roundRect">
            <a:avLst>
              <a:gd name="adj" fmla="val 812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59464" y="2195512"/>
            <a:ext cx="3722935" cy="2628900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835" y="2838450"/>
            <a:ext cx="2536328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214562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689" y="2471737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319337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651" y="2576512"/>
            <a:ext cx="219075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82200" y="671512"/>
            <a:ext cx="1562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JetBrains Mono"/>
              </a:rPr>
              <a:t>Zero LLM Retraining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6096000"/>
            <a:ext cx="11382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5E59"/>
                </a:solidFill>
                <a:latin typeface="Inter"/>
              </a:rPr>
              <a:t>Architectural Distinction:</a:t>
            </a:r>
            <a:r>
              <a:rPr sz="1050" b="0" i="0" u="none">
                <a:solidFill>
                  <a:srgbClr val="115E59"/>
                </a:solidFill>
                <a:latin typeface="Inter"/>
              </a:rPr>
              <a:t> Agent-OM separates extraction/embedding from reasoning tasks to isolate expensive LLM prompts solely to final validation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8358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Space Grotesk"/>
              </a:rPr>
              <a:t>PAPER ANALYSIS • QIANG ET AL. (PVLDB 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877609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Agent-OM: Collaborative Multi-Agent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1534" y="3257550"/>
            <a:ext cx="332893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Space Grotesk"/>
              </a:rPr>
              <a:t>Shared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0794" y="3581400"/>
            <a:ext cx="3170411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Central repository for parsed entity profiles, vector indexes, and intermediate rankings.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1125" y="2281237"/>
            <a:ext cx="188773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Retrieval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2747962"/>
            <a:ext cx="762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" y="2747962"/>
            <a:ext cx="3094285" cy="5143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Metadata Extraction: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Parses ontology structures.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" y="3262312"/>
            <a:ext cx="762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7275" y="3262312"/>
            <a:ext cx="3094285" cy="5143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Name Normalization: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Standardizes labels/terms.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75" y="3776662"/>
            <a:ext cx="762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275" y="3776662"/>
            <a:ext cx="3094285" cy="5143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Semantic Synthesis: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Generates concise term descriptions.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075" y="4291012"/>
            <a:ext cx="762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7275" y="4291012"/>
            <a:ext cx="3094285" cy="5143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Vector Construction: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Builds dense embeddings.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0989" y="2538412"/>
            <a:ext cx="19502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Matching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0939" y="3005137"/>
            <a:ext cx="762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7139" y="3005137"/>
            <a:ext cx="3094285" cy="5143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Candidate Retrieval: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Extracts top candidates.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0939" y="3519487"/>
            <a:ext cx="762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7139" y="3519487"/>
            <a:ext cx="3748794" cy="25717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Rank Fusion: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Merges multi-retrieval scores.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0939" y="3776662"/>
            <a:ext cx="762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7139" y="3776662"/>
            <a:ext cx="3748794" cy="25717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LLM Validation: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Evaluates context matches.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0939" y="4033837"/>
            <a:ext cx="762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7139" y="4033837"/>
            <a:ext cx="3094285" cy="5143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Bidirectional Agreement: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Ensures 2-way consistency.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889176"/>
            <a:ext cx="109728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606450"/>
            <a:ext cx="5334000" cy="1743075"/>
          </a:xfrm>
          <a:prstGeom prst="roundRect">
            <a:avLst>
              <a:gd name="adj" fmla="val 8743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1606450"/>
            <a:ext cx="5334000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9625" y="4394001"/>
          <a:ext cx="10572748" cy="1295400"/>
        </p:xfrm>
        <a:graphic>
          <a:graphicData uri="http://schemas.openxmlformats.org/drawingml/2006/table">
            <a:tbl>
              <a:tblPr/>
              <a:tblGrid>
                <a:gridCol w="1817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8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7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Inter"/>
                        </a:rPr>
                        <a:t>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Inter"/>
                        </a:rPr>
                        <a:t>KROMA (2025)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D9488"/>
                          </a:solidFill>
                          <a:latin typeface="Inter"/>
                        </a:rPr>
                        <a:t>Agent-OM (PVLDB 2024)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0000"/>
                          </a:solidFill>
                          <a:latin typeface="Inter"/>
                        </a:rPr>
                        <a:t>Main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00000"/>
                          </a:solidFill>
                          <a:latin typeface="Inter"/>
                        </a:rPr>
                        <a:t>External Knowledge &amp; Graph Refinement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00000"/>
                          </a:solidFill>
                          <a:latin typeface="Inter"/>
                        </a:rPr>
                        <a:t>Multi-Agent Retrieval &amp; Rank Fusion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0000"/>
                          </a:solidFill>
                          <a:latin typeface="Inter"/>
                        </a:rPr>
                        <a:t>Validation Check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00000"/>
                          </a:solidFill>
                          <a:latin typeface="Inter"/>
                        </a:rPr>
                        <a:t>Ontology Structure &amp; Bisimilarity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00000"/>
                          </a:solidFill>
                          <a:latin typeface="Inter"/>
                        </a:rPr>
                        <a:t>Bidirectional Agent Consistency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0000"/>
                          </a:solidFill>
                          <a:latin typeface="Inter"/>
                        </a:rPr>
                        <a:t>Key Trade-off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00000"/>
                          </a:solidFill>
                          <a:latin typeface="Inter"/>
                        </a:rPr>
                        <a:t>Limited by external definition availability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00000"/>
                          </a:solidFill>
                          <a:latin typeface="Inter"/>
                        </a:rPr>
                        <a:t>Bidirectional check boosts Precision, reduces 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6238577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Key Takeaway: Synthesis of both approaches provides high precision with low token consumption.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Space Grotesk"/>
              </a:rPr>
              <a:t>PAPER ANALYSIS • 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Agent-OM: Efficiency &amp; Metric Trade-offs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089201"/>
            <a:ext cx="11382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Architectural Comparison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756" y="1920775"/>
            <a:ext cx="5881687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D9488"/>
                </a:solidFill>
                <a:latin typeface="Space Grotesk"/>
              </a:rPr>
              <a:t>~94%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756" y="2644675"/>
            <a:ext cx="5881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Token Cost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756" y="2873275"/>
            <a:ext cx="5881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Inter"/>
              </a:rPr>
              <a:t>Compared against standard LLM-with-context baselines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4556" y="1920775"/>
            <a:ext cx="5881687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Space Grotesk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556" y="2644675"/>
            <a:ext cx="5881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Complex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4556" y="2873275"/>
            <a:ext cx="5881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Inter"/>
              </a:rPr>
              <a:t>Competitive across biomedical &amp; materials science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9140"/>
            <a:ext cx="2628900" cy="1260871"/>
          </a:xfrm>
          <a:prstGeom prst="roundRect">
            <a:avLst>
              <a:gd name="adj" fmla="val 90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90900" y="2649140"/>
            <a:ext cx="2628900" cy="1260871"/>
          </a:xfrm>
          <a:prstGeom prst="roundRect">
            <a:avLst>
              <a:gd name="adj" fmla="val 90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2649140"/>
            <a:ext cx="2628900" cy="1260871"/>
          </a:xfrm>
          <a:prstGeom prst="roundRect">
            <a:avLst>
              <a:gd name="adj" fmla="val 90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500" y="2649140"/>
            <a:ext cx="2628900" cy="1260871"/>
          </a:xfrm>
          <a:prstGeom prst="roundRect">
            <a:avLst>
              <a:gd name="adj" fmla="val 9065"/>
            </a:avLst>
          </a:prstGeom>
          <a:solidFill>
            <a:srgbClr val="E0E7FF"/>
          </a:solidFill>
          <a:ln w="9525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5492353"/>
            <a:ext cx="5372100" cy="908446"/>
          </a:xfrm>
          <a:prstGeom prst="roundRect">
            <a:avLst>
              <a:gd name="adj" fmla="val 12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5492353"/>
            <a:ext cx="5372100" cy="908446"/>
          </a:xfrm>
          <a:prstGeom prst="roundRect">
            <a:avLst>
              <a:gd name="adj" fmla="val 12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Space Grotesk"/>
              </a:rPr>
              <a:t>ONGOING WORK • EXPERIMENTAL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Proposed Experimental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839640"/>
            <a:ext cx="2343150" cy="879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366F1"/>
                </a:solidFill>
                <a:latin typeface="Inter"/>
              </a:rPr>
              <a:t>CONFIG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400" y="2839640"/>
            <a:ext cx="2343150" cy="879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366F1"/>
                </a:solidFill>
                <a:latin typeface="Inter"/>
              </a:rPr>
              <a:t>CONFIG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2839640"/>
            <a:ext cx="2343150" cy="879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366F1"/>
                </a:solidFill>
                <a:latin typeface="Inter"/>
              </a:rPr>
              <a:t>CONFIG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839640"/>
            <a:ext cx="2343150" cy="879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338CA"/>
                </a:solidFill>
                <a:latin typeface="Inter"/>
              </a:rPr>
              <a:t>CONFIG D (FULL)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115865"/>
            <a:ext cx="29253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Label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363515"/>
            <a:ext cx="23241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Direct text label similarity without embeddings or LLM logic.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925" y="3115865"/>
            <a:ext cx="29253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Embedding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925" y="3363515"/>
            <a:ext cx="23241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Vector similarity top-k extraction across normalized concepts.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2225" y="3115865"/>
            <a:ext cx="29253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+ LLM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3363515"/>
            <a:ext cx="23241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LLM semantic prompt verification on top-k retrieved candidate pairs.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525" y="3115865"/>
            <a:ext cx="29253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+ Structural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525" y="3363515"/>
            <a:ext cx="23241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3730A3"/>
                </a:solidFill>
                <a:latin typeface="Inter"/>
              </a:rPr>
              <a:t>Config C with parent/child hierarchical validation filter.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5654278"/>
            <a:ext cx="652581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Evaluation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5892403"/>
            <a:ext cx="50673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Precision, Recall, F1-Score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against OAEI Ground Truth. </a:t>
            </a:r>
            <a:r>
              <a:t>
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Efficiency: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Total LLM calls, token usage, latency.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325" y="5654278"/>
            <a:ext cx="57816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Anticipated Challenges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5892403"/>
            <a:ext cx="50673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Missing ontologies metadata, setting similarity thresholds without overfitting, controlling hallucinated matches.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14975"/>
            <a:ext cx="10972800" cy="733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00300"/>
            <a:ext cx="4899273" cy="1800225"/>
          </a:xfrm>
          <a:prstGeom prst="roundRect">
            <a:avLst>
              <a:gd name="adj" fmla="val 846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3673" y="2400300"/>
            <a:ext cx="5768726" cy="2009775"/>
          </a:xfrm>
          <a:prstGeom prst="roundRect">
            <a:avLst>
              <a:gd name="adj" fmla="val 758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51497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25000" y="5838825"/>
            <a:ext cx="2057400" cy="323850"/>
          </a:xfrm>
          <a:prstGeom prst="roundRect">
            <a:avLst>
              <a:gd name="adj" fmla="val 23529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SUMMARY &amp; BIBLIOGRAPHY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572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Space Grotesk"/>
              </a:rPr>
              <a:t>Conclusion &amp;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400" y="5915025"/>
            <a:ext cx="1847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ACL Course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676525"/>
            <a:ext cx="570520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Space Grotesk"/>
              </a:rPr>
              <a:t>Main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009900"/>
            <a:ext cx="444207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Combining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semantic retrieval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with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structural validation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optimizes the balance between accuracy and token expenditure in LLM-assisted ontology matching—preventing unnecessary LLM calls while ensuring graph-level consistency.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9898" y="2676525"/>
            <a:ext cx="610210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Space Grotesk"/>
              </a:rPr>
              <a:t>Primary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753100"/>
            <a:ext cx="188773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Space Grotesk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86475"/>
            <a:ext cx="1797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Questions &amp;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898" y="3009900"/>
            <a:ext cx="610210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[1] KROMA Paper (2025)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898" y="3190875"/>
            <a:ext cx="531152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Nguyen et al. </a:t>
            </a:r>
            <a:r>
              <a:rPr sz="975" b="0" i="1" u="none">
                <a:solidFill>
                  <a:srgbClr val="94A3B8"/>
                </a:solidFill>
                <a:latin typeface="Inter"/>
              </a:rPr>
              <a:t>"KROMA: Knowledge Retrieval and Structure-Guided Ontology Matching with LLMs."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898" y="3648075"/>
            <a:ext cx="610210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[2] Agent-OM Paper (2023 / PVLDB 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898" y="3829050"/>
            <a:ext cx="531152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Qiang, Wang, and Taylor. </a:t>
            </a:r>
            <a:r>
              <a:rPr sz="975" b="0" i="1" u="none">
                <a:solidFill>
                  <a:srgbClr val="94A3B8"/>
                </a:solidFill>
                <a:latin typeface="Inter"/>
              </a:rPr>
              <a:t>"Agent-OM: Leveraging LLM Agents for Efficient Ontology Matching."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Proceedings of the VLDB Endowment.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PresentationFormat>Widescreen</PresentationFormat>
  <Paragraphs>112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Space Grotesk</vt:lpstr>
      <vt:lpstr>Arial</vt:lpstr>
      <vt:lpstr>Inter</vt:lpstr>
      <vt:lpstr>JetBrains Mono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CIPRIAN-BOGDAN TODORAN</cp:lastModifiedBy>
  <cp:revision>2</cp:revision>
  <dcterms:created xsi:type="dcterms:W3CDTF">2013-01-27T09:14:16Z</dcterms:created>
  <dcterms:modified xsi:type="dcterms:W3CDTF">2026-10-22T18:32:13Z</dcterms:modified>
  <cp:category/>
</cp:coreProperties>
</file>