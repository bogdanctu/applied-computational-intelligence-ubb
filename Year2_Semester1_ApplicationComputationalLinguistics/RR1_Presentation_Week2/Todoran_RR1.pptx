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Inter"/>
      <p:italic r:id="rId9"/>
    </p:embeddedFont>
    <p:embeddedFont>
      <p:font typeface="JetBrains Mono"/>
      <p:bold r:id="rId10"/>
    </p:embeddedFont>
    <p:embeddedFont>
      <p:font typeface="Space Grotesk"/>
      <p:bold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4838" y="3138119"/>
            <a:ext cx="10972800" cy="1932211"/>
          </a:xfrm>
          <a:prstGeom prst="roundRect">
            <a:avLst>
              <a:gd name="adj" fmla="val 1142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5867400"/>
            <a:ext cx="109728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86476" y="3513829"/>
            <a:ext cx="9525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6067425"/>
            <a:ext cx="278146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CBD5E1"/>
                </a:solidFill>
                <a:latin typeface="Inter"/>
              </a:rPr>
              <a:t>Presenter: 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Todoran C. Bogdan</a:t>
            </a:r>
            <a:endParaRPr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3256" y="88392"/>
            <a:ext cx="281109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38BDF8"/>
                </a:solidFill>
                <a:latin typeface="Space Grotesk"/>
              </a:rPr>
              <a:t>ACL COURSE • RR1 PRELIMINARY RESEARC</a:t>
            </a:r>
            <a:r>
              <a:rPr lang="en-US" sz="1200" b="1" i="0" u="none" dirty="0">
                <a:solidFill>
                  <a:srgbClr val="38BDF8"/>
                </a:solidFill>
                <a:latin typeface="Space Grotesk"/>
              </a:rPr>
              <a:t>H</a:t>
            </a:r>
            <a:endParaRPr sz="12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8177" y="1210590"/>
            <a:ext cx="10876598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Ontology Matching</a:t>
            </a:r>
            <a:r>
              <a:rPr lang="en-US" sz="4000" b="1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with Large Language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4270" y="1843332"/>
            <a:ext cx="862441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94A3B8"/>
                </a:solidFill>
                <a:latin typeface="Inter"/>
              </a:rPr>
              <a:t>A Comparative Analysis of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KROMA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 and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Agent-</a:t>
            </a:r>
            <a:r>
              <a:rPr lang="en-GB" sz="2000" b="0" i="0" u="none" dirty="0">
                <a:solidFill>
                  <a:srgbClr val="94A3B8"/>
                </a:solidFill>
                <a:latin typeface="Inter"/>
              </a:rPr>
              <a:t>Ontology Matching 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Architectures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9164" y="3390004"/>
            <a:ext cx="152516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Space Grotesk"/>
              </a:rPr>
              <a:t>THE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163" y="3930495"/>
            <a:ext cx="4957762" cy="933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E2E8F0"/>
                </a:solidFill>
                <a:latin typeface="Inter"/>
              </a:rPr>
              <a:t>Traditional OM: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Relies on fixed rules and manual features. </a:t>
            </a:r>
            <a:r>
              <a:rPr sz="2000" dirty="0"/>
              <a:t>
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Direct Prompting: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High token costs, hallucinations, scale limits.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1" y="3390004"/>
            <a:ext cx="229832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Space Grotesk"/>
              </a:rPr>
              <a:t>RESEARCH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1087" y="4026532"/>
            <a:ext cx="4957762" cy="70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0" i="0" u="none" dirty="0">
                <a:solidFill>
                  <a:srgbClr val="E2E8F0"/>
                </a:solidFill>
                <a:latin typeface="Inter"/>
              </a:rPr>
              <a:t>Investigate how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external retrieval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,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semantic context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and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structural validation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refine LLM-based entity matching.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715000"/>
            <a:ext cx="10972800" cy="685800"/>
          </a:xfrm>
          <a:prstGeom prst="roundRect">
            <a:avLst>
              <a:gd name="adj" fmla="val 13888"/>
            </a:avLst>
          </a:prstGeom>
          <a:solidFill>
            <a:srgbClr val="FFFBE0"/>
          </a:solidFill>
          <a:ln w="9525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00425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91250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82075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7725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38550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29375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220200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5962650"/>
            <a:ext cx="142875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2438400"/>
            <a:ext cx="381000" cy="3810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8550" y="2438400"/>
            <a:ext cx="381000" cy="3810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2438400"/>
            <a:ext cx="381000" cy="3810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200" y="2438400"/>
            <a:ext cx="381000" cy="3810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2543175"/>
            <a:ext cx="152400" cy="1714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800" y="2543175"/>
            <a:ext cx="190500" cy="1714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2543175"/>
            <a:ext cx="171450" cy="1714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5450" y="2543175"/>
            <a:ext cx="190500" cy="171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" y="5876925"/>
            <a:ext cx="102965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854D0E"/>
                </a:solidFill>
                <a:latin typeface="Inter"/>
              </a:rPr>
              <a:t>Core Architecture Principle:</a:t>
            </a:r>
            <a:r>
              <a:rPr sz="1125" b="0" i="0" u="none">
                <a:solidFill>
                  <a:srgbClr val="854D0E"/>
                </a:solidFill>
                <a:latin typeface="Inter"/>
              </a:rPr>
              <a:t> Embeddings isolate candidate search space; structural post-processing guarantees graph logic consistency without increasing LLM prompt overhead.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25220"/>
            <a:ext cx="109728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KROMA: Ontology Matching with Knowledge</a:t>
            </a:r>
          </a:p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Retrieval and Large Language Models</a:t>
            </a:r>
            <a:endParaRPr sz="4000" b="1" i="0" u="none" dirty="0">
              <a:solidFill>
                <a:srgbClr val="0284C7"/>
              </a:solidFill>
              <a:latin typeface="Space Grotesk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2975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 dirty="0">
                <a:solidFill>
                  <a:srgbClr val="0284C7"/>
                </a:solidFill>
                <a:latin typeface="JetBrains Mono"/>
              </a:rPr>
              <a:t>Context Enrichment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3800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Text + Graph 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4625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Semantic Reasoning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Hierarchy Consistency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1. Knowledge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162" y="3541006"/>
            <a:ext cx="2219325" cy="12407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Fetches definitions, synonyms</a:t>
            </a:r>
            <a:r>
              <a:rPr lang="en-US" dirty="0">
                <a:solidFill>
                  <a:srgbClr val="475569"/>
                </a:solidFill>
                <a:latin typeface="Inter"/>
              </a:rPr>
              <a:t> 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and domain contexts from external knowledge bases to enrich concept descriptions.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2. Candidate Selection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8549" y="3541006"/>
            <a:ext cx="2219325" cy="8303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Fuses text embeddings with graph embeddings to prune non-matching pairs efficiently.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9375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3. LLM 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9375" y="3539446"/>
            <a:ext cx="2219325" cy="8303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Evaluates candidate pairs through deep contextual reasoning using LLMs.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0200" y="2933700"/>
            <a:ext cx="221932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u="none" dirty="0">
                <a:solidFill>
                  <a:srgbClr val="0F172A"/>
                </a:solidFill>
                <a:latin typeface="Space Grotesk"/>
              </a:rPr>
              <a:t>4. Structural</a:t>
            </a:r>
            <a:r>
              <a:rPr lang="en-US" sz="1700" b="1" i="0" u="none" dirty="0">
                <a:solidFill>
                  <a:srgbClr val="0F172A"/>
                </a:solidFill>
                <a:latin typeface="Space Grotesk"/>
              </a:rPr>
              <a:t> </a:t>
            </a:r>
            <a:r>
              <a:rPr sz="1700" b="1" i="0" u="none" dirty="0">
                <a:solidFill>
                  <a:srgbClr val="0F172A"/>
                </a:solidFill>
                <a:latin typeface="Space Grotesk"/>
              </a:rPr>
              <a:t>Refinement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0200" y="3535094"/>
            <a:ext cx="2219325" cy="1035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Validates predicted matches using parent-child hierarchical checks and </a:t>
            </a:r>
            <a:r>
              <a:rPr b="0" i="0" u="none" dirty="0" err="1">
                <a:solidFill>
                  <a:srgbClr val="475569"/>
                </a:solidFill>
                <a:latin typeface="Inter"/>
              </a:rPr>
              <a:t>bisimilarity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properties.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6076950"/>
            <a:ext cx="10972800" cy="323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75607"/>
            <a:ext cx="4690169" cy="2192535"/>
          </a:xfrm>
          <a:prstGeom prst="roundRect">
            <a:avLst>
              <a:gd name="adj" fmla="val 6950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076950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591249" y="1827752"/>
            <a:ext cx="5977830" cy="106394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591250" y="3045998"/>
            <a:ext cx="5977830" cy="100012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91250" y="4196619"/>
            <a:ext cx="5977830" cy="104775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91249" y="1827752"/>
            <a:ext cx="38100" cy="8953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591250" y="3029806"/>
            <a:ext cx="38100" cy="8953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591250" y="4196619"/>
            <a:ext cx="38100" cy="8953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pace Grotesk"/>
              </a:rPr>
              <a:t>PAPER ANALYSIS • 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KROMA: Empirical Performance &amp;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238875"/>
            <a:ext cx="426243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Inter"/>
              </a:rPr>
              <a:t>Source: Nguyen et al. (2025) experimental evaluations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5075" y="6238875"/>
            <a:ext cx="1821656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Inter"/>
              </a:rPr>
              <a:t>OAEI Benchmark Suite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0" y="2828032"/>
            <a:ext cx="4981649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400"/>
              </a:lnSpc>
            </a:pPr>
            <a:r>
              <a:rPr sz="5400" b="1" i="0" u="none">
                <a:solidFill>
                  <a:srgbClr val="0284C7"/>
                </a:solidFill>
                <a:latin typeface="Space Grotesk"/>
              </a:rPr>
              <a:t>+10.95%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2733" y="3527732"/>
            <a:ext cx="2543902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1" i="0" u="none" dirty="0">
                <a:solidFill>
                  <a:srgbClr val="0F172A"/>
                </a:solidFill>
                <a:latin typeface="Inter"/>
              </a:rPr>
              <a:t>Average Performance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860" y="3942457"/>
            <a:ext cx="4981649" cy="397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Outperforms existing LLM-based matching frameworks on standard OAEI benchmarks.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B7735F-1AA8-4A22-7D67-1D8E4861C585}"/>
              </a:ext>
            </a:extLst>
          </p:cNvPr>
          <p:cNvSpPr txBox="1"/>
          <p:nvPr/>
        </p:nvSpPr>
        <p:spPr>
          <a:xfrm>
            <a:off x="5736989" y="1989677"/>
            <a:ext cx="2701702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1F2937"/>
                </a:solidFill>
                <a:latin typeface="Inter"/>
              </a:rPr>
              <a:t>Retrieval &amp; Refinement Synergy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FCF090-1E96-13E2-310A-93311D82E09B}"/>
              </a:ext>
            </a:extLst>
          </p:cNvPr>
          <p:cNvSpPr txBox="1"/>
          <p:nvPr/>
        </p:nvSpPr>
        <p:spPr>
          <a:xfrm>
            <a:off x="5736989" y="2227802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4B5563"/>
                </a:solidFill>
                <a:latin typeface="Inter"/>
              </a:rPr>
              <a:t>Both external knowledge integration and parent-child validation directly boost accuracy.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D345E1-30EC-6272-B38F-576EA0111FDF}"/>
              </a:ext>
            </a:extLst>
          </p:cNvPr>
          <p:cNvSpPr txBox="1"/>
          <p:nvPr/>
        </p:nvSpPr>
        <p:spPr>
          <a:xfrm>
            <a:off x="5736990" y="3196493"/>
            <a:ext cx="2092239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1F2937"/>
                </a:solidFill>
                <a:latin typeface="Inter"/>
              </a:rPr>
              <a:t>Computational Trade-off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632D59-7239-3A32-FC14-184A641FC034}"/>
              </a:ext>
            </a:extLst>
          </p:cNvPr>
          <p:cNvSpPr txBox="1"/>
          <p:nvPr/>
        </p:nvSpPr>
        <p:spPr>
          <a:xfrm>
            <a:off x="5736990" y="3434618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4B5563"/>
                </a:solidFill>
                <a:latin typeface="Inter"/>
              </a:rPr>
              <a:t>Multi-agent debate and extended reasoning increase costs without guaranteeing accuracy gains.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D73212-2E02-0B96-04EC-568296888ACB}"/>
              </a:ext>
            </a:extLst>
          </p:cNvPr>
          <p:cNvSpPr txBox="1"/>
          <p:nvPr/>
        </p:nvSpPr>
        <p:spPr>
          <a:xfrm>
            <a:off x="5736990" y="4358544"/>
            <a:ext cx="2561920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Inter"/>
              </a:rPr>
              <a:t>Specialized Domain Limitation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2F728A-CFB1-8FB9-BC00-F6EF774F92EA}"/>
              </a:ext>
            </a:extLst>
          </p:cNvPr>
          <p:cNvSpPr txBox="1"/>
          <p:nvPr/>
        </p:nvSpPr>
        <p:spPr>
          <a:xfrm>
            <a:off x="5736990" y="4596669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4B5563"/>
                </a:solidFill>
                <a:latin typeface="Inter"/>
              </a:rPr>
              <a:t>Performance drops in sparse knowledge domains like materials science.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953125"/>
            <a:ext cx="10972800" cy="447675"/>
          </a:xfrm>
          <a:prstGeom prst="roundRect">
            <a:avLst>
              <a:gd name="adj" fmla="val 21276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1938337"/>
            <a:ext cx="3722935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61135" y="2571750"/>
            <a:ext cx="3069728" cy="1876425"/>
          </a:xfrm>
          <a:prstGeom prst="roundRect">
            <a:avLst>
              <a:gd name="adj" fmla="val 812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90066" y="1938337"/>
            <a:ext cx="3722935" cy="3143249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835" y="2838450"/>
            <a:ext cx="2536328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" y="2214562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639" y="2319337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2319337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601" y="2424112"/>
            <a:ext cx="219075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9625" y="6096000"/>
            <a:ext cx="113823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15E59"/>
                </a:solidFill>
                <a:latin typeface="Inter"/>
              </a:rPr>
              <a:t>Architectural Distinction:</a:t>
            </a:r>
            <a:r>
              <a:rPr sz="1050" b="0" i="0" u="none">
                <a:solidFill>
                  <a:srgbClr val="115E59"/>
                </a:solidFill>
                <a:latin typeface="Inter"/>
              </a:rPr>
              <a:t> Agent-OM separates extraction/embedding from reasoning tasks to isolate expensive LLM prompts solely to final validation steps.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1534" y="3257550"/>
            <a:ext cx="332893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Space Grotesk"/>
              </a:rPr>
              <a:t>Shared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0794" y="3581400"/>
            <a:ext cx="3170411" cy="625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b="0" i="0" u="none" dirty="0">
                <a:solidFill>
                  <a:schemeClr val="bg1"/>
                </a:solidFill>
                <a:latin typeface="Inter"/>
              </a:rPr>
              <a:t>Central repository for parsed entity profiles, vector indexes</a:t>
            </a:r>
            <a:br>
              <a:rPr lang="en-US" b="0" i="0" u="none" dirty="0">
                <a:solidFill>
                  <a:schemeClr val="bg1"/>
                </a:solidFill>
                <a:latin typeface="Inter"/>
              </a:rPr>
            </a:br>
            <a:r>
              <a:rPr b="0" i="0" u="none" dirty="0">
                <a:solidFill>
                  <a:schemeClr val="bg1"/>
                </a:solidFill>
                <a:latin typeface="Inter"/>
              </a:rPr>
              <a:t>and intermediate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1125" y="2281237"/>
            <a:ext cx="188773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Retrieval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075" y="274796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274796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Metadata Extraction: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Parses ontology structures.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075" y="326231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275" y="326231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Name Normalization: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Standardizes labels/terms.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75" y="377666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377666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>
                <a:solidFill>
                  <a:srgbClr val="475569"/>
                </a:solidFill>
                <a:latin typeface="Inter"/>
              </a:rPr>
              <a:t>Semantic Synthesis:</a:t>
            </a:r>
            <a:r>
              <a:rPr b="0" i="0" u="none">
                <a:solidFill>
                  <a:srgbClr val="475569"/>
                </a:solidFill>
                <a:latin typeface="Inter"/>
              </a:rPr>
              <a:t> Generates concise term descriptions.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075" y="429101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7275" y="429101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>
                <a:solidFill>
                  <a:srgbClr val="475569"/>
                </a:solidFill>
                <a:latin typeface="Inter"/>
              </a:rPr>
              <a:t>Vector Construction:</a:t>
            </a:r>
            <a:r>
              <a:rPr b="0" i="0" u="none">
                <a:solidFill>
                  <a:srgbClr val="475569"/>
                </a:solidFill>
                <a:latin typeface="Inter"/>
              </a:rPr>
              <a:t> Builds dense embeddings.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1939" y="2386012"/>
            <a:ext cx="19502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Matching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88" y="2849165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6188" y="2821981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Candidate Retrieval: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Extracts top candidates.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0939" y="3354950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139" y="3326705"/>
            <a:ext cx="3094285" cy="512961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Rank Fusion: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Merges multi-retrieval scores.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3288" y="3859411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6188" y="3834459"/>
            <a:ext cx="3094285" cy="512961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LLM Validation: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Evaluates context matches.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0939" y="4319587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6187" y="4319587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Bidirectional Agreement: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Ensures 2-way consistency.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00E616-A549-3A76-EFA4-A0EB706A328E}"/>
              </a:ext>
            </a:extLst>
          </p:cNvPr>
          <p:cNvSpPr txBox="1"/>
          <p:nvPr/>
        </p:nvSpPr>
        <p:spPr>
          <a:xfrm>
            <a:off x="647700" y="558403"/>
            <a:ext cx="109347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Agent-OM: Leveraging LLM Agents</a:t>
            </a:r>
            <a:br>
              <a:rPr lang="en-US" sz="4000" b="1" i="0" u="none" dirty="0">
                <a:solidFill>
                  <a:srgbClr val="0284C7"/>
                </a:solidFill>
                <a:latin typeface="Space Grotesk"/>
              </a:rPr>
            </a:br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for Ontology Matching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707427"/>
            <a:ext cx="10972800" cy="2496765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606450"/>
            <a:ext cx="5334000" cy="1743075"/>
          </a:xfrm>
          <a:prstGeom prst="roundRect">
            <a:avLst>
              <a:gd name="adj" fmla="val 8743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1606450"/>
            <a:ext cx="5334000" cy="1743075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256881"/>
              </p:ext>
            </p:extLst>
          </p:nvPr>
        </p:nvGraphicFramePr>
        <p:xfrm>
          <a:off x="803530" y="4177763"/>
          <a:ext cx="10572748" cy="1849120"/>
        </p:xfrm>
        <a:graphic>
          <a:graphicData uri="http://schemas.openxmlformats.org/drawingml/2006/table">
            <a:tbl>
              <a:tblPr/>
              <a:tblGrid>
                <a:gridCol w="181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8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7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/>
                      <a:endParaRPr sz="1800" b="1" i="0" u="none" dirty="0">
                        <a:solidFill>
                          <a:srgbClr val="64748B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284C7"/>
                          </a:solidFill>
                          <a:latin typeface="Inter"/>
                        </a:rPr>
                        <a:t>KROMA (2025)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D9488"/>
                          </a:solidFill>
                          <a:latin typeface="Inter"/>
                        </a:rPr>
                        <a:t>Agent-OM (PVLDB 2024)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000000"/>
                          </a:solidFill>
                          <a:latin typeface="Inter"/>
                        </a:rPr>
                        <a:t>Main Focus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External Knowledge &amp; Graph Refinement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Multi-Agent Retrieval &amp; Rank Fusion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00000"/>
                          </a:solidFill>
                          <a:latin typeface="Inter"/>
                        </a:rPr>
                        <a:t>Validation Check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Ontology Structure &amp; Bisimilarity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Bidirectional Agent Consistency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000000"/>
                          </a:solidFill>
                          <a:latin typeface="Inter"/>
                        </a:rPr>
                        <a:t>Key Trade-off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 dirty="0">
                          <a:solidFill>
                            <a:srgbClr val="000000"/>
                          </a:solidFill>
                          <a:latin typeface="Inter"/>
                        </a:rPr>
                        <a:t>Limited by external definition availability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 dirty="0">
                          <a:solidFill>
                            <a:srgbClr val="000000"/>
                          </a:solidFill>
                          <a:latin typeface="Inter"/>
                        </a:rPr>
                        <a:t>Bidirectional check boosts Precision, reduces Recall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D9488"/>
                </a:solidFill>
                <a:latin typeface="Space Grotesk"/>
              </a:rPr>
              <a:t>PAPER ANALYSIS •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Agent-OM: Efficiency &amp; Metric Trade-offs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529" y="3840003"/>
            <a:ext cx="339785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Architectural Comparison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756" y="1920775"/>
            <a:ext cx="5881687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D9488"/>
                </a:solidFill>
                <a:latin typeface="Space Grotesk"/>
              </a:rPr>
              <a:t>~94%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756" y="2644675"/>
            <a:ext cx="588168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Token Cost Reduction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756" y="2873275"/>
            <a:ext cx="5881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475569"/>
                </a:solidFill>
                <a:latin typeface="Inter"/>
              </a:rPr>
              <a:t>Compared against standard LLM-with-context baselines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74556" y="1920775"/>
            <a:ext cx="5881687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F172A"/>
                </a:solidFill>
                <a:latin typeface="Space Grotesk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556" y="2644675"/>
            <a:ext cx="588168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Complex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4556" y="2873275"/>
            <a:ext cx="5881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475569"/>
                </a:solidFill>
                <a:latin typeface="Inter"/>
              </a:rPr>
              <a:t>Competitive across biomedical &amp; materials science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3909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722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535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E0E7FF"/>
          </a:solidFill>
          <a:ln w="9525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484287"/>
            <a:ext cx="5372100" cy="1197864"/>
          </a:xfrm>
          <a:prstGeom prst="roundRect">
            <a:avLst>
              <a:gd name="adj" fmla="val 125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0300" y="4484287"/>
            <a:ext cx="5372100" cy="1197864"/>
          </a:xfrm>
          <a:prstGeom prst="roundRect">
            <a:avLst>
              <a:gd name="adj" fmla="val 125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366F1"/>
                </a:solidFill>
                <a:latin typeface="Space Grotesk"/>
              </a:rPr>
              <a:t>ONGOING WORK • EXPERIMENTAL METHODOLOGY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Proposed Experimental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14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4338CA"/>
                </a:solidFill>
                <a:latin typeface="Inter"/>
              </a:rPr>
              <a:t>CONFIG D (FULL)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6" y="2625816"/>
            <a:ext cx="23241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Label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2960250"/>
            <a:ext cx="2324100" cy="73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Direct text label similarity without embeddings or LLM logic.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0925" y="2625816"/>
            <a:ext cx="227528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Embedding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0925" y="2917793"/>
            <a:ext cx="23241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Vector similarity top-k extraction across normalized concepts.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2225" y="2625816"/>
            <a:ext cx="23336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+ LLM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2225" y="2975088"/>
            <a:ext cx="2324100" cy="73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LLM semantic prompt verification on top-k retrieved candidate pairs.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525" y="2625816"/>
            <a:ext cx="22383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+ Structural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951224"/>
            <a:ext cx="23241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3730A3"/>
                </a:solidFill>
                <a:latin typeface="Inter"/>
              </a:rPr>
              <a:t>Config C with parent/child hierarchical validation filter.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" y="4593170"/>
            <a:ext cx="177426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Evaluation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625" y="5020796"/>
            <a:ext cx="5067300" cy="375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Precision, Recall, F1-Score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against OAEI Ground Truth. </a:t>
            </a:r>
            <a:r>
              <a:rPr dirty="0"/>
              <a:t>
</a:t>
            </a:r>
            <a:r>
              <a:rPr b="1" i="0" u="none" dirty="0">
                <a:solidFill>
                  <a:srgbClr val="475569"/>
                </a:solidFill>
                <a:latin typeface="Inter"/>
              </a:rPr>
              <a:t>Efficiency: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Total LLM calls, token usage, latency.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93170"/>
            <a:ext cx="217694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Anticipated Challenges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0325" y="5020796"/>
            <a:ext cx="50673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>
                <a:solidFill>
                  <a:srgbClr val="475569"/>
                </a:solidFill>
                <a:latin typeface="Inter"/>
              </a:rPr>
              <a:t>Missing ontologies metadata, setting similarity thresholds without overfitting, controlling hallucinated matches.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514975"/>
            <a:ext cx="10972800" cy="7334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00300"/>
            <a:ext cx="4899273" cy="2329201"/>
          </a:xfrm>
          <a:prstGeom prst="roundRect">
            <a:avLst>
              <a:gd name="adj" fmla="val 846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13673" y="2400300"/>
            <a:ext cx="5768726" cy="2711196"/>
          </a:xfrm>
          <a:prstGeom prst="roundRect">
            <a:avLst>
              <a:gd name="adj" fmla="val 7582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5514975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525000" y="5838825"/>
            <a:ext cx="2057400" cy="323850"/>
          </a:xfrm>
          <a:prstGeom prst="roundRect">
            <a:avLst>
              <a:gd name="adj" fmla="val 23529"/>
            </a:avLst>
          </a:prstGeom>
          <a:solidFill>
            <a:srgbClr val="0E1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6096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Space Grotesk"/>
              </a:rPr>
              <a:t>SUMMARY &amp; BIBLIOGRAPHY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57250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Space Grotesk"/>
              </a:rPr>
              <a:t>Conclusion &amp;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5915025"/>
            <a:ext cx="18478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38BDF8"/>
                </a:solidFill>
                <a:latin typeface="JetBrains Mono"/>
              </a:rPr>
              <a:t>ACL Course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2676525"/>
            <a:ext cx="147784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38BDF8"/>
                </a:solidFill>
                <a:latin typeface="Space Grotesk"/>
              </a:rPr>
              <a:t>Main 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009900"/>
            <a:ext cx="4442073" cy="13882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i="0" u="none" dirty="0">
                <a:solidFill>
                  <a:srgbClr val="CBD5E1"/>
                </a:solidFill>
                <a:latin typeface="Inter"/>
              </a:rPr>
              <a:t>Combining </a:t>
            </a:r>
            <a:r>
              <a:rPr b="1" i="0" u="none" dirty="0">
                <a:solidFill>
                  <a:srgbClr val="CBD5E1"/>
                </a:solidFill>
                <a:latin typeface="Inter"/>
              </a:rPr>
              <a:t>semantic retrieval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 with </a:t>
            </a:r>
            <a:r>
              <a:rPr b="1" i="0" u="none" dirty="0">
                <a:solidFill>
                  <a:srgbClr val="CBD5E1"/>
                </a:solidFill>
                <a:latin typeface="Inter"/>
              </a:rPr>
              <a:t>structural validation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 optimizes the balance between accuracy and token expenditure in LLM-assisted ontology matching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, 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preventing unnecessary LLM calls while ensuring graph-level 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9898" y="2676525"/>
            <a:ext cx="1853649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38BDF8"/>
                </a:solidFill>
                <a:latin typeface="Space Grotesk"/>
              </a:rPr>
              <a:t>Primary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753100"/>
            <a:ext cx="1887735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FFFFFF"/>
                </a:solidFill>
                <a:latin typeface="Space Grotesk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086475"/>
            <a:ext cx="1797843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Inter"/>
              </a:rPr>
              <a:t>Questions &amp; Discussion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898" y="3009900"/>
            <a:ext cx="234327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F8FAFC"/>
                </a:solidFill>
                <a:latin typeface="Inter"/>
              </a:rPr>
              <a:t>[1] KROMA Paper (2025)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898" y="3263093"/>
            <a:ext cx="531152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94A3B8"/>
                </a:solidFill>
                <a:latin typeface="Inter"/>
              </a:rPr>
              <a:t>Nguyen et al. </a:t>
            </a:r>
            <a:r>
              <a:rPr b="0" i="1" u="none" dirty="0">
                <a:solidFill>
                  <a:srgbClr val="94A3B8"/>
                </a:solidFill>
                <a:latin typeface="Inter"/>
              </a:rPr>
              <a:t>"KROMA: Knowledge Retrieval and Structure-Guided Ontology Matching with LLMs."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898" y="3795374"/>
            <a:ext cx="3941144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F8FAFC"/>
                </a:solidFill>
                <a:latin typeface="Inter"/>
              </a:rPr>
              <a:t>[2] Agent-OM Paper (2023 / PVLDB 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898" y="4058424"/>
            <a:ext cx="531152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94A3B8"/>
                </a:solidFill>
                <a:latin typeface="Inter"/>
              </a:rPr>
              <a:t>Qiang, Wang, and Taylor. </a:t>
            </a:r>
            <a:r>
              <a:rPr b="0" i="1" u="none" dirty="0">
                <a:solidFill>
                  <a:srgbClr val="94A3B8"/>
                </a:solidFill>
                <a:latin typeface="Inter"/>
              </a:rPr>
              <a:t>"Agent-OM: Leveraging LLM Agents for Efficient Ontology Matching."</a:t>
            </a:r>
            <a:endParaRPr b="0" i="0" u="none" dirty="0">
              <a:solidFill>
                <a:srgbClr val="94A3B8"/>
              </a:solidFill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669</Words>
  <Application>Microsoft Office PowerPoint</Application>
  <PresentationFormat>Widescreen</PresentationFormat>
  <Paragraphs>108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Space Grotesk</vt:lpstr>
      <vt:lpstr>Inter</vt:lpstr>
      <vt:lpstr>Arial</vt:lpstr>
      <vt:lpstr>JetBrains Mono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CIPRIAN-BOGDAN TODORAN</cp:lastModifiedBy>
  <cp:revision>3</cp:revision>
  <dcterms:created xsi:type="dcterms:W3CDTF">2013-01-27T09:14:16Z</dcterms:created>
  <dcterms:modified xsi:type="dcterms:W3CDTF">2026-10-22T19:16:48Z</dcterms:modified>
  <cp:category/>
</cp:coreProperties>
</file>